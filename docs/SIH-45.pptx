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01C9ED-6B05-4CF5-9775-1C00A7A2A97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DBB85B-CA56-4EA4-BB03-41FF9ACE99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DE7940-19B7-4FBB-9382-E955D5D5E4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0951A8-2E82-4B7E-B5EC-A268E03419A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4143A9-D1F0-4385-9364-DC0FD9DC87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7D80E3-4878-4F63-A5EC-97CCE52EFC0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ED4487-752D-4BB5-A3D7-E6E815C39A1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CD045E-612E-4720-8D87-B271C5E028B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ECE1CE-6AA0-4B9B-A359-BD204FF8048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95529C-149A-45F6-BEB7-A3EB9B1A497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4C3234-EAC1-45C4-B90F-DAC2089910A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FA998D-597E-4238-A2F4-DD9970531A2E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0CE56D-FC8B-44EB-B60B-8F221896E75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231409-BD6F-44CE-A855-0B607BF729E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3CFE12-651F-407E-B6D1-B29204EC57F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E22230-44C5-4453-B318-AFB808FFA48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indent="0" algn="l"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1F658D-B726-4C3B-813F-FF9927A51C78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s://drive.google.com/drive/folders/1epmNqLB7cnjwelMtL-0g5IN6rxD8haf6?usp=sharing" TargetMode="External"/><Relationship Id="rId5" Type="http://schemas.openxmlformats.org/officeDocument/2006/relationships/image" Target="../media/image6.jpe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jpeg"/><Relationship Id="rId3" Type="http://schemas.openxmlformats.org/officeDocument/2006/relationships/hyperlink" Target="https://github.com/okyashgajjar/IP-SAKTI" TargetMode="External"/><Relationship Id="rId4" Type="http://schemas.openxmlformats.org/officeDocument/2006/relationships/image" Target="../media/image6.jpeg"/><Relationship Id="rId5" Type="http://schemas.openxmlformats.org/officeDocument/2006/relationships/hyperlink" Target="https://drive.google.com/drive/folders/1epmNqLB7cnjwelMtL-0g5IN6rxD8haf6?usp=sharing" TargetMode="External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8240" cy="5154480"/>
          </a:xfrm>
          <a:custGeom>
            <a:avLst/>
            <a:gdLst>
              <a:gd name="textAreaLeft" fmla="*/ 0 w 4638240"/>
              <a:gd name="textAreaRight" fmla="*/ 4638600 w 4638240"/>
              <a:gd name="textAreaTop" fmla="*/ 0 h 5154480"/>
              <a:gd name="textAreaBottom" fmla="*/ 5154840 h 515448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6854760" y="1715760"/>
            <a:ext cx="3203280" cy="342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960" cy="207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61080" y="360000"/>
            <a:ext cx="6478920" cy="63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ID – 26045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Title- 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IP-SAKTI Sahayak a multilingual, RAG-based (source-cited) AI assistant for Intellectual Property and regulatory guidance in Ayurveda, across national and international regimes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Theme- MedTech / BioTech / HealthTech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PS Category- Software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ID-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Name (Registered on portal)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1"/>
          <p:cNvPicPr/>
          <p:nvPr/>
        </p:nvPicPr>
        <p:blipFill>
          <a:blip r:embed="rId2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8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29760" y="-24264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IP-SAKTI Sahayak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606FEC-B029-4B40-92C0-E35F1A86BA3A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" name="Picture 10"/>
          <p:cNvPicPr/>
          <p:nvPr/>
        </p:nvPicPr>
        <p:blipFill>
          <a:blip r:embed="rId1"/>
          <a:stretch/>
        </p:blipFill>
        <p:spPr>
          <a:xfrm>
            <a:off x="9780120" y="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4426200" y="1800000"/>
            <a:ext cx="7633800" cy="4498920"/>
          </a:xfrm>
          <a:prstGeom prst="rect">
            <a:avLst/>
          </a:prstGeom>
          <a:noFill/>
          <a:ln w="6480">
            <a:solidFill>
              <a:schemeClr val="accent1">
                <a:lumMod val="75000"/>
                <a:lumOff val="0"/>
              </a:schemeClr>
            </a:solidFill>
            <a:round/>
          </a:ln>
        </p:spPr>
      </p:pic>
      <p:sp>
        <p:nvSpPr>
          <p:cNvPr id="77" name="Title 2"/>
          <p:cNvSpPr txBox="1"/>
          <p:nvPr/>
        </p:nvSpPr>
        <p:spPr>
          <a:xfrm>
            <a:off x="3780000" y="1322640"/>
            <a:ext cx="2700000" cy="60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PROTOTYPE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658880" y="622440"/>
            <a:ext cx="8241120" cy="7002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dwaita Sans"/>
              </a:rPr>
              <a:t>Cited, jurisdiction-clean guidance on Ayurveda IP, drug regulation and ABS.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dwaita Sans"/>
            </a:endParaRPr>
          </a:p>
          <a:p>
            <a:pPr>
              <a:spcAft>
                <a:spcPts val="283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dwaita Sans"/>
              </a:rPr>
              <a:t>Every claim links to a statute, rule or treaty article. Abstains when unsure.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dwaita Sans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-43560" y="1617480"/>
            <a:ext cx="4543560" cy="48625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Frontend: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Next.js, React,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Tailwind CSS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Backend: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Python, FastAPI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GenAI: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LLM, LangGraph, RAG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Agents: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Query Understanding,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 Planner, Evidence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Reasoner, Answer Synthesis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Tools: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AYUSH, FSSAI, TKDL,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India Code, IP India, EPO,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WIPO, NBA, Country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Regulations | ALL CITES AS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TOOLS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Database: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PostgreSQL,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pgvector, tsvector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Hybrid Search, BM25,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Vector Search, Reranker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Cache &amp; Queue: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Redis, Async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 Queue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Translation: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Bhashini, LLM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Fallback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Streaming: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Server-Sent Events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(SSE)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Authentication, Rate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Limiting, CDN/WAF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Monitoring: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Latency, Token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Usage, Cost, Citation Precision,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Abstention Rate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Human Review: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IP Facilitator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Escalation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Deployment: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Docker, Nginx, 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Cloud/Container Infrastructure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itle 3"/>
          <p:cNvSpPr txBox="1"/>
          <p:nvPr/>
        </p:nvSpPr>
        <p:spPr>
          <a:xfrm>
            <a:off x="0" y="1377360"/>
            <a:ext cx="2340000" cy="60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TECHSTACK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81" name="Oval 2" descr="Your startup LOGO"/>
          <p:cNvSpPr/>
          <p:nvPr/>
        </p:nvSpPr>
        <p:spPr>
          <a:xfrm>
            <a:off x="149760" y="180360"/>
            <a:ext cx="1470240" cy="842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The Akashik Nodes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TECHNICAL APPROACH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770F39-A922-4759-9C00-7F947A026C44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Oval 10" descr="Your startup LOGO"/>
          <p:cNvSpPr/>
          <p:nvPr/>
        </p:nvSpPr>
        <p:spPr>
          <a:xfrm>
            <a:off x="149760" y="180000"/>
            <a:ext cx="1470240" cy="842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The Akashik Nodes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2"/>
          <a:srcRect l="0" t="4299" r="0" b="0"/>
          <a:stretch/>
        </p:blipFill>
        <p:spPr>
          <a:xfrm>
            <a:off x="74880" y="1620000"/>
            <a:ext cx="6225120" cy="3420000"/>
          </a:xfrm>
          <a:prstGeom prst="rect">
            <a:avLst/>
          </a:prstGeom>
          <a:noFill/>
          <a:ln w="6480">
            <a:solidFill>
              <a:schemeClr val="accent1">
                <a:lumMod val="75000"/>
                <a:lumOff val="0"/>
              </a:schemeClr>
            </a:solidFill>
            <a:round/>
          </a:ln>
        </p:spPr>
      </p:pic>
      <p:sp>
        <p:nvSpPr>
          <p:cNvPr id="88" name=""/>
          <p:cNvSpPr txBox="1"/>
          <p:nvPr/>
        </p:nvSpPr>
        <p:spPr>
          <a:xfrm>
            <a:off x="540000" y="1189080"/>
            <a:ext cx="5581080" cy="1150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LANGGRAPH 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MULTIAGENT 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ORCHASTRATOR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/>
          <p:cNvPicPr/>
          <p:nvPr/>
        </p:nvPicPr>
        <p:blipFill>
          <a:blip r:embed="rId3"/>
          <a:srcRect l="9918" t="1760" r="10354" b="2851"/>
          <a:stretch/>
        </p:blipFill>
        <p:spPr>
          <a:xfrm>
            <a:off x="6660000" y="1440000"/>
            <a:ext cx="5400000" cy="4554360"/>
          </a:xfrm>
          <a:prstGeom prst="rect">
            <a:avLst/>
          </a:prstGeom>
          <a:noFill/>
          <a:ln w="6480">
            <a:solidFill>
              <a:schemeClr val="accent1">
                <a:lumMod val="75000"/>
                <a:lumOff val="0"/>
              </a:schemeClr>
            </a:solidFill>
            <a:round/>
          </a:ln>
        </p:spPr>
      </p:pic>
      <p:sp>
        <p:nvSpPr>
          <p:cNvPr id="90" name=""/>
          <p:cNvSpPr txBox="1"/>
          <p:nvPr/>
        </p:nvSpPr>
        <p:spPr>
          <a:xfrm>
            <a:off x="7740000" y="996120"/>
            <a:ext cx="3421080" cy="4438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B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A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C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K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E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N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D 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A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R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C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H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I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T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E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C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T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U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R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E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"/>
          <p:cNvCxnSpPr>
            <a:stCxn id="89" idx="1"/>
            <a:endCxn id="87" idx="3"/>
          </p:cNvCxnSpPr>
          <p:nvPr/>
        </p:nvCxnSpPr>
        <p:spPr>
          <a:xfrm rot="10800000">
            <a:off x="6300000" y="3329640"/>
            <a:ext cx="360360" cy="387360"/>
          </a:xfrm>
          <a:prstGeom prst="bentConnector3">
            <a:avLst>
              <a:gd name="adj1" fmla="val 50000"/>
            </a:avLst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92" name=""/>
          <p:cNvSpPr txBox="1"/>
          <p:nvPr/>
        </p:nvSpPr>
        <p:spPr>
          <a:xfrm>
            <a:off x="1260000" y="5220000"/>
            <a:ext cx="5040000" cy="150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SCAN THIS QR TO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KNOW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ARCHITECTURE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DIAGRAMS,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EXPLAINATIONS &amp;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OTHER COMPONENTS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IN DETAIL. |</a:t>
            </a:r>
            <a:r>
              <a:rPr lang="en-US" sz="1800" b="1" u="sng" strike="noStrike">
                <a:solidFill>
                  <a:srgbClr val="FFFFD7"/>
                </a:solidFill>
                <a:effectLst/>
                <a:highlight>
                  <a:srgbClr val="000000"/>
                </a:highlight>
                <a:uFillTx/>
                <a:latin typeface="JetBrainsMono NFP ExtraBold"/>
                <a:ea typeface="ＭＳ Ｐゴシック"/>
                <a:hlinkClick r:id="rId4"/>
              </a:rPr>
              <a:t> TAP HERE!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5"/>
          <a:stretch/>
        </p:blipFill>
        <p:spPr>
          <a:xfrm>
            <a:off x="0" y="5094720"/>
            <a:ext cx="1260000" cy="12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4815654-BAE9-413E-AEE1-94D064FD89BB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6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itle 4"/>
          <p:cNvSpPr txBox="1"/>
          <p:nvPr/>
        </p:nvSpPr>
        <p:spPr>
          <a:xfrm>
            <a:off x="1860120" y="-79200"/>
            <a:ext cx="792000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FEASIBILITY AND VIABILITY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480000" y="1420200"/>
            <a:ext cx="5580000" cy="2539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Technical: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Proven AI stack + trusted legal sources.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Operational: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Helps MSMEs find the right rules and next steps.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Economic: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Low-cost through caching + efficient AI models.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Regulatory: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Source-backed guidance + human review for complex cases.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Market: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Useful for Ayurvedic businesses, startups &amp; innovators.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Sustainable: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Regularly updates changing laws and regulations.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"/>
          <p:cNvGraphicFramePr/>
          <p:nvPr/>
        </p:nvGraphicFramePr>
        <p:xfrm>
          <a:off x="6321240" y="4156920"/>
          <a:ext cx="5796000" cy="2080440"/>
        </p:xfrm>
        <a:graphic>
          <a:graphicData uri="http://schemas.openxmlformats.org/drawingml/2006/table">
            <a:tbl>
              <a:tblPr/>
              <a:tblGrid>
                <a:gridCol w="2267640"/>
                <a:gridCol w="3528360"/>
              </a:tblGrid>
              <a:tr h="297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Challenge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Mitigation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97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Wrong legal information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Source verification + human review</a:t>
                      </a:r>
                      <a:endParaRPr lang="en-IN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97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Outdated laws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Regular source updates</a:t>
                      </a:r>
                      <a:endParaRPr lang="en-IN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97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Language barriers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Bhashini + AI fallback</a:t>
                      </a:r>
                      <a:endParaRPr lang="en-IN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97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 failure/slow response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Cache + backup model</a:t>
                      </a:r>
                      <a:endParaRPr lang="en-IN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97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Wrong country rules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India / International separation</a:t>
                      </a:r>
                      <a:endParaRPr lang="en-IN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98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Uncertain answer</a:t>
                      </a:r>
                      <a:endParaRPr lang="en-IN" sz="15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spcBef>
                          <a:spcPts val="675"/>
                        </a:spcBef>
                        <a:spcAft>
                          <a:spcPts val="561"/>
                        </a:spcAft>
                      </a:pPr>
                      <a:r>
                        <a:rPr lang="en-I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Confidence score + human escalation</a:t>
                      </a:r>
                      <a:endParaRPr lang="en-IN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0" name="Title 5"/>
          <p:cNvSpPr txBox="1"/>
          <p:nvPr/>
        </p:nvSpPr>
        <p:spPr>
          <a:xfrm>
            <a:off x="6120000" y="3600000"/>
            <a:ext cx="6480000" cy="6462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CHALLANGES &amp; MITIGATION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101" name="Title 6"/>
          <p:cNvSpPr txBox="1"/>
          <p:nvPr/>
        </p:nvSpPr>
        <p:spPr>
          <a:xfrm>
            <a:off x="6660000" y="793800"/>
            <a:ext cx="4860000" cy="6462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FEASIBILITY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102" name="Title 8"/>
          <p:cNvSpPr txBox="1"/>
          <p:nvPr/>
        </p:nvSpPr>
        <p:spPr>
          <a:xfrm>
            <a:off x="900000" y="900000"/>
            <a:ext cx="4860000" cy="6462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MAJOR ISSUE: CONTEXT DRIFT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pic>
        <p:nvPicPr>
          <p:cNvPr id="103" name=""/>
          <p:cNvPicPr/>
          <p:nvPr/>
        </p:nvPicPr>
        <p:blipFill>
          <a:blip r:embed="rId2"/>
          <a:srcRect l="0" t="12359" r="0" b="-52"/>
          <a:stretch/>
        </p:blipFill>
        <p:spPr>
          <a:xfrm>
            <a:off x="99360" y="1366200"/>
            <a:ext cx="6200640" cy="3060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04" name=""/>
          <p:cNvSpPr txBox="1"/>
          <p:nvPr/>
        </p:nvSpPr>
        <p:spPr>
          <a:xfrm>
            <a:off x="180000" y="4140000"/>
            <a:ext cx="6120000" cy="15069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Bef>
                <a:spcPts val="283"/>
              </a:spcBef>
              <a:spcAft>
                <a:spcPts val="992"/>
              </a:spcAf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283"/>
              </a:spcBef>
              <a:spcAft>
                <a:spcPts val="992"/>
              </a:spcAft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CONTEXT DRIFT: 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Long Conversations System slowly loses the original topic, such that AI hallucinates &amp; gives wrong outputs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SOLUTION: 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Before reaching context window of an LLM, it will get summary of past workdone &amp; use it for further communication.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val 1" descr="Your startup LOGO"/>
          <p:cNvSpPr/>
          <p:nvPr/>
        </p:nvSpPr>
        <p:spPr>
          <a:xfrm>
            <a:off x="149760" y="180360"/>
            <a:ext cx="1470240" cy="842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The Akashik Nodes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600000" y="1620000"/>
            <a:ext cx="5040000" cy="30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Economic Growth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Stronger IP protection boosts productivity, attracts investment and opens new markets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Social Impact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Empowers MSMEs and startups, creates jobs and builds a culture of innovation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Knowledge &amp; Environment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Strengthens knowledge assets, enables green innovation and supports sustainable development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Your IP Journey with IP-SAKTi Sahayak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Aware &amp; Learn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Understand IP rights, benefits and best practices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Assess &amp; Plan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Evaluate your ideas and build a practical IP strategy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Protect &amp; Manage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File, manage and enforce IP with expert guidance and tools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Grow &amp; Impact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Commercialize with confidence and scale your impact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For MSMEs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Lower risks, stronger brands and better access to finance and partnerships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For Startups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Faster time to market, investor confidence and competitive advantage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For Innovators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Recognized ideas, rewarding opportunities and lasting impact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Clear Next Steps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Get expert support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Use trusted resources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Take action and protect your ideas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1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2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3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600" b="0" u="none" strike="noStrike">
                <a:solidFill>
                  <a:srgbClr val="FFFFD7"/>
                </a:solidFill>
                <a:effectLst/>
                <a:uFillTx/>
                <a:latin typeface="Arial"/>
              </a:rPr>
              <a:t>4</a:t>
            </a: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600" b="0" u="none" strike="noStrike">
              <a:solidFill>
                <a:srgbClr val="FFFFD7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21F33E-F75F-443D-838C-F953B63A658E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Oval 11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Yo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ur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itle 9"/>
          <p:cNvSpPr txBox="1"/>
          <p:nvPr/>
        </p:nvSpPr>
        <p:spPr>
          <a:xfrm>
            <a:off x="540000" y="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IMPACT AND BENEFITS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pic>
        <p:nvPicPr>
          <p:cNvPr id="112" name=""/>
          <p:cNvPicPr/>
          <p:nvPr/>
        </p:nvPicPr>
        <p:blipFill>
          <a:blip r:embed="rId2"/>
          <a:srcRect l="0" t="0" r="2771" b="0"/>
          <a:stretch/>
        </p:blipFill>
        <p:spPr>
          <a:xfrm>
            <a:off x="401040" y="1260000"/>
            <a:ext cx="11658600" cy="48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56F493-D193-4EE1-8BAC-F5C291A03B91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Oval 8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Your Team Name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2"/>
          <a:stretch/>
        </p:blipFill>
        <p:spPr>
          <a:xfrm>
            <a:off x="540000" y="1095120"/>
            <a:ext cx="1980000" cy="1980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18" name="Title 10"/>
          <p:cNvSpPr txBox="1"/>
          <p:nvPr/>
        </p:nvSpPr>
        <p:spPr>
          <a:xfrm>
            <a:off x="180000" y="3060000"/>
            <a:ext cx="2520000" cy="6462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D7"/>
                </a:solidFill>
                <a:effectLst/>
                <a:highlight>
                  <a:srgbClr val="000000"/>
                </a:highlight>
                <a:uFillTx/>
                <a:latin typeface="JetBrainsMono NFP ExtraBold"/>
                <a:ea typeface="ＭＳ Ｐゴシック"/>
                <a:hlinkClick r:id="rId3"/>
              </a:rPr>
              <a:t>TAP HERE!</a:t>
            </a:r>
            <a:br>
              <a:rPr sz="1600"/>
            </a:b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OR SCAN ABOVE QR</a:t>
            </a:r>
            <a:br>
              <a:rPr sz="1600"/>
            </a:b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MVP OF THIS PROJECT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880000" y="720000"/>
            <a:ext cx="9360000" cy="57567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Legal &amp; Regulatory Corpus </a:t>
            </a:r>
            <a:endParaRPr lang="en-IN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India: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Patents Act &amp; Rules, Biological Diversity Act/Rules, Drugs &amp; Cosmetics Act, Drugs &amp; Magic Remedies Act</a:t>
            </a:r>
            <a:endParaRPr lang="en-IN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International: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TRIPS, Nagoya Protocol, PCT, WIPO GRATK</a:t>
            </a:r>
            <a:endParaRPr lang="en-IN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Knowledge: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TKDL (patent-office access only; open sources used)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2000"/>
            </a:b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Technology References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AI: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LangGraph, LLMs, RAG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Backend: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FastAPI, PostgreSQL + pgvector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Search: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Hybrid Search + Reciprocal Rank Fusion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Language: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Bhashini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2000"/>
            </a:b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Existing Systems Studied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Generic LLMs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→ Weak source/section verification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IP Portals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→ Information available, limited guided support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Government Portals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→ Information distributed across multiple sources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2000"/>
            </a:b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 Research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2L+ DPIIT-recognised startups in India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→ Potential innovation &amp; IP user base.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itle 11"/>
          <p:cNvSpPr txBox="1"/>
          <p:nvPr/>
        </p:nvSpPr>
        <p:spPr>
          <a:xfrm>
            <a:off x="0" y="-24264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JetBrainsMono NFP ExtraBold"/>
                <a:ea typeface="ＭＳ Ｐゴシック"/>
              </a:rPr>
              <a:t>RESEARCH &amp; REFERENCES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JetBrainsMono NFP ExtraBold"/>
            </a:endParaRPr>
          </a:p>
        </p:txBody>
      </p:sp>
      <p:pic>
        <p:nvPicPr>
          <p:cNvPr id="121" name=""/>
          <p:cNvPicPr/>
          <p:nvPr/>
        </p:nvPicPr>
        <p:blipFill>
          <a:blip r:embed="rId4"/>
          <a:stretch/>
        </p:blipFill>
        <p:spPr>
          <a:xfrm>
            <a:off x="540000" y="3780000"/>
            <a:ext cx="1800000" cy="1800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22" name=""/>
          <p:cNvSpPr txBox="1"/>
          <p:nvPr/>
        </p:nvSpPr>
        <p:spPr>
          <a:xfrm>
            <a:off x="-144000" y="5400000"/>
            <a:ext cx="3204000" cy="8949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IN" sz="1600" b="0" u="sng" strike="noStrike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JetBrainsMono NFP ExtraBold"/>
                <a:hlinkClick r:id="rId5"/>
              </a:rPr>
              <a:t>TAP HERE!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JetBrainsMono NFP ExtraBold"/>
            </a:endParaRPr>
          </a:p>
          <a:p>
            <a:pPr algn="ctr"/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JetBrainsMono NFP ExtraBold"/>
              </a:rPr>
              <a:t>OR SCAN ABOVE QR FOR DETAILED DOCUMENTATION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JetBrainsMono NFP Extra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7508</TotalTime>
  <Application>LibreOffice/26.8.0.3$Linux_X86_64 LibreOffice_project/680$Build-3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en-IN</dc:language>
  <cp:lastModifiedBy/>
  <dcterms:modified xsi:type="dcterms:W3CDTF">2026-09-30T00:46:21Z</dcterms:modified>
  <cp:revision>150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